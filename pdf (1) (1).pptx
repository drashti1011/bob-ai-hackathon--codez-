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4334"/>
            <a:ext cx="10692003" cy="5591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555"/>
            <a:ext cx="10692003" cy="7110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47249"/>
            <a:ext cx="10692003" cy="56655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1185"/>
            <a:ext cx="10692003" cy="70576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4421"/>
            <a:ext cx="10692003" cy="5611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17812"/>
            <a:ext cx="10692003" cy="61243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4334"/>
            <a:ext cx="10692003" cy="5591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60372"/>
            <a:ext cx="10692003" cy="5839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903" y="997480"/>
            <a:ext cx="1463040" cy="721360"/>
          </a:xfrm>
          <a:prstGeom prst="rect">
            <a:avLst/>
          </a:prstGeom>
          <a:solidFill>
            <a:srgbClr val="0A131A"/>
          </a:solidFill>
        </p:spPr>
        <p:txBody>
          <a:bodyPr wrap="square" lIns="0" tIns="298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dirty="0" sz="4100" spc="-185" b="1">
                <a:solidFill>
                  <a:srgbClr val="EDF2F4"/>
                </a:solidFill>
                <a:latin typeface="Times New Roman"/>
                <a:cs typeface="Times New Roman"/>
              </a:rPr>
              <a:t>Impact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15346" y="1044472"/>
            <a:ext cx="302895" cy="659765"/>
          </a:xfrm>
          <a:custGeom>
            <a:avLst/>
            <a:gdLst/>
            <a:ahLst/>
            <a:cxnLst/>
            <a:rect l="l" t="t" r="r" b="b"/>
            <a:pathLst>
              <a:path w="302894" h="659764">
                <a:moveTo>
                  <a:pt x="302871" y="659752"/>
                </a:moveTo>
                <a:lnTo>
                  <a:pt x="0" y="659752"/>
                </a:lnTo>
                <a:lnTo>
                  <a:pt x="0" y="0"/>
                </a:lnTo>
                <a:lnTo>
                  <a:pt x="302871" y="0"/>
                </a:lnTo>
                <a:lnTo>
                  <a:pt x="302871" y="659752"/>
                </a:lnTo>
                <a:close/>
              </a:path>
            </a:pathLst>
          </a:custGeom>
          <a:solidFill>
            <a:srgbClr val="0A13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53057" y="997480"/>
            <a:ext cx="1051560" cy="721360"/>
          </a:xfrm>
          <a:custGeom>
            <a:avLst/>
            <a:gdLst/>
            <a:ahLst/>
            <a:cxnLst/>
            <a:rect l="l" t="t" r="r" b="b"/>
            <a:pathLst>
              <a:path w="1051560" h="721360">
                <a:moveTo>
                  <a:pt x="1051480" y="721329"/>
                </a:moveTo>
                <a:lnTo>
                  <a:pt x="0" y="721329"/>
                </a:lnTo>
                <a:lnTo>
                  <a:pt x="0" y="0"/>
                </a:lnTo>
                <a:lnTo>
                  <a:pt x="1051480" y="0"/>
                </a:lnTo>
                <a:lnTo>
                  <a:pt x="1051480" y="721329"/>
                </a:lnTo>
                <a:close/>
              </a:path>
            </a:pathLst>
          </a:custGeom>
          <a:solidFill>
            <a:srgbClr val="0A13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02647" y="1013805"/>
            <a:ext cx="1537335" cy="651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 spc="-535" b="1">
                <a:solidFill>
                  <a:srgbClr val="EDF2F4"/>
                </a:solidFill>
                <a:latin typeface="Times New Roman"/>
                <a:cs typeface="Times New Roman"/>
              </a:rPr>
              <a:t>&amp;</a:t>
            </a:r>
            <a:r>
              <a:rPr dirty="0" sz="3750" spc="-120" b="1">
                <a:solidFill>
                  <a:srgbClr val="EDF2F4"/>
                </a:solidFill>
                <a:latin typeface="Times New Roman"/>
                <a:cs typeface="Times New Roman"/>
              </a:rPr>
              <a:t> </a:t>
            </a:r>
            <a:r>
              <a:rPr dirty="0" sz="4100" spc="-120" b="1">
                <a:solidFill>
                  <a:srgbClr val="EDF2F4"/>
                </a:solidFill>
                <a:latin typeface="Times New Roman"/>
                <a:cs typeface="Times New Roman"/>
              </a:rPr>
              <a:t>Scale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9743" y="1997849"/>
            <a:ext cx="1651635" cy="810895"/>
          </a:xfrm>
          <a:custGeom>
            <a:avLst/>
            <a:gdLst/>
            <a:ahLst/>
            <a:cxnLst/>
            <a:rect l="l" t="t" r="r" b="b"/>
            <a:pathLst>
              <a:path w="1651635" h="810894">
                <a:moveTo>
                  <a:pt x="1651509" y="810542"/>
                </a:moveTo>
                <a:lnTo>
                  <a:pt x="0" y="810542"/>
                </a:lnTo>
                <a:lnTo>
                  <a:pt x="0" y="0"/>
                </a:lnTo>
                <a:lnTo>
                  <a:pt x="1651509" y="0"/>
                </a:lnTo>
                <a:lnTo>
                  <a:pt x="1651509" y="810542"/>
                </a:lnTo>
                <a:close/>
              </a:path>
            </a:pathLst>
          </a:custGeom>
          <a:solidFill>
            <a:srgbClr val="0A13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17044" y="2016653"/>
            <a:ext cx="1720850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50" spc="135" b="1">
                <a:solidFill>
                  <a:srgbClr val="D3E4ED"/>
                </a:solidFill>
                <a:latin typeface="Arial"/>
                <a:cs typeface="Arial"/>
              </a:rPr>
              <a:t>1000+</a:t>
            </a:r>
            <a:endParaRPr sz="44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03977" y="2009296"/>
            <a:ext cx="1943100" cy="810895"/>
          </a:xfrm>
          <a:custGeom>
            <a:avLst/>
            <a:gdLst/>
            <a:ahLst/>
            <a:cxnLst/>
            <a:rect l="l" t="t" r="r" b="b"/>
            <a:pathLst>
              <a:path w="1943100" h="810894">
                <a:moveTo>
                  <a:pt x="1942952" y="810542"/>
                </a:moveTo>
                <a:lnTo>
                  <a:pt x="0" y="810542"/>
                </a:lnTo>
                <a:lnTo>
                  <a:pt x="0" y="0"/>
                </a:lnTo>
                <a:lnTo>
                  <a:pt x="1942952" y="0"/>
                </a:lnTo>
                <a:lnTo>
                  <a:pt x="1942952" y="810542"/>
                </a:lnTo>
                <a:close/>
              </a:path>
            </a:pathLst>
          </a:custGeom>
          <a:solidFill>
            <a:srgbClr val="0A13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791279" y="2028100"/>
            <a:ext cx="2012950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50" spc="370" b="1">
                <a:solidFill>
                  <a:srgbClr val="D3E4ED"/>
                </a:solidFill>
                <a:latin typeface="Arial"/>
                <a:cs typeface="Arial"/>
              </a:rPr>
              <a:t>$500M</a:t>
            </a:r>
            <a:endParaRPr sz="4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8570" y="2858326"/>
            <a:ext cx="1965325" cy="334010"/>
          </a:xfrm>
          <a:prstGeom prst="rect">
            <a:avLst/>
          </a:prstGeom>
          <a:solidFill>
            <a:srgbClr val="0A131A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1950">
                <a:solidFill>
                  <a:srgbClr val="D3E4ED"/>
                </a:solidFill>
                <a:latin typeface="Times New Roman"/>
                <a:cs typeface="Times New Roman"/>
              </a:rPr>
              <a:t>Outages</a:t>
            </a:r>
            <a:r>
              <a:rPr dirty="0" sz="1950" spc="325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950" spc="-10">
                <a:solidFill>
                  <a:srgbClr val="C6D1D8"/>
                </a:solidFill>
                <a:latin typeface="Times New Roman"/>
                <a:cs typeface="Times New Roman"/>
              </a:rPr>
              <a:t>Prevented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0985" y="3270004"/>
            <a:ext cx="3696335" cy="28638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  <a:tabLst>
                <a:tab pos="1880870" algn="l"/>
              </a:tabLst>
            </a:pP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Per</a:t>
            </a:r>
            <a:r>
              <a:rPr dirty="0" sz="1650" spc="-5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C6D1D8"/>
                </a:solidFill>
                <a:latin typeface="Times New Roman"/>
                <a:cs typeface="Times New Roman"/>
              </a:rPr>
              <a:t>utility,</a:t>
            </a:r>
            <a:r>
              <a:rPr dirty="0" sz="1650" spc="-4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per</a:t>
            </a:r>
            <a:r>
              <a:rPr dirty="0" sz="1650" spc="-10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year</a:t>
            </a:r>
            <a:r>
              <a:rPr dirty="0" sz="1650" spc="-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C6D1D8"/>
                </a:solidFill>
                <a:latin typeface="Times New Roman"/>
                <a:cs typeface="Times New Roman"/>
              </a:rPr>
              <a:t>-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	through</a:t>
            </a:r>
            <a:r>
              <a:rPr dirty="0" sz="1650" spc="10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C6D1D8"/>
                </a:solidFill>
                <a:latin typeface="Times New Roman"/>
                <a:cs typeface="Times New Roman"/>
              </a:rPr>
              <a:t>Ul</a:t>
            </a: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 predictive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9659" y="3556168"/>
            <a:ext cx="1091565" cy="28257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maintenance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29798" y="2864049"/>
            <a:ext cx="1669414" cy="334010"/>
          </a:xfrm>
          <a:prstGeom prst="rect">
            <a:avLst/>
          </a:prstGeom>
          <a:solidFill>
            <a:srgbClr val="0A131A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1950" spc="50">
                <a:solidFill>
                  <a:srgbClr val="D3E4ED"/>
                </a:solidFill>
                <a:latin typeface="Times New Roman"/>
                <a:cs typeface="Times New Roman"/>
              </a:rPr>
              <a:t>Annual</a:t>
            </a:r>
            <a:r>
              <a:rPr dirty="0" sz="1950" spc="-4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950" spc="-10">
                <a:solidFill>
                  <a:srgbClr val="C6D1D8"/>
                </a:solidFill>
                <a:latin typeface="Times New Roman"/>
                <a:cs typeface="Times New Roman"/>
              </a:rPr>
              <a:t>Savings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3608" y="3281450"/>
            <a:ext cx="4284345" cy="28638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650" spc="-10">
                <a:solidFill>
                  <a:srgbClr val="D3E4ED"/>
                </a:solidFill>
                <a:latin typeface="Times New Roman"/>
                <a:cs typeface="Times New Roman"/>
              </a:rPr>
              <a:t>In</a:t>
            </a:r>
            <a:r>
              <a:rPr dirty="0" sz="1650" spc="-95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avoided</a:t>
            </a:r>
            <a:r>
              <a:rPr dirty="0" sz="1650" spc="4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D3E4ED"/>
                </a:solidFill>
                <a:latin typeface="Times New Roman"/>
                <a:cs typeface="Times New Roman"/>
              </a:rPr>
              <a:t>blackout</a:t>
            </a:r>
            <a:r>
              <a:rPr dirty="0" sz="1650" spc="2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costs</a:t>
            </a:r>
            <a:r>
              <a:rPr dirty="0" sz="1650" spc="-11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and</a:t>
            </a:r>
            <a:r>
              <a:rPr dirty="0" sz="1650" spc="-2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emergency</a:t>
            </a:r>
            <a:r>
              <a:rPr dirty="0" sz="1650" spc="7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response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67288" y="3567615"/>
            <a:ext cx="1790064" cy="28257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across</a:t>
            </a:r>
            <a:r>
              <a:rPr dirty="0" sz="1650" spc="-9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a</a:t>
            </a:r>
            <a:r>
              <a:rPr dirty="0" sz="1650" spc="-3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single</a:t>
            </a:r>
            <a:r>
              <a:rPr dirty="0" sz="1650" spc="5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D3E4ED"/>
                </a:solidFill>
                <a:latin typeface="Times New Roman"/>
                <a:cs typeface="Times New Roman"/>
              </a:rPr>
              <a:t>utility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4845" y="4104579"/>
            <a:ext cx="2400300" cy="880110"/>
          </a:xfrm>
          <a:prstGeom prst="rect">
            <a:avLst/>
          </a:prstGeom>
          <a:solidFill>
            <a:srgbClr val="0A131A"/>
          </a:solidFill>
        </p:spPr>
        <p:txBody>
          <a:bodyPr wrap="square" lIns="0" tIns="361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85"/>
              </a:spcBef>
            </a:pPr>
            <a:r>
              <a:rPr dirty="0" sz="5000" spc="114" b="1">
                <a:solidFill>
                  <a:srgbClr val="D3E4ED"/>
                </a:solidFill>
                <a:latin typeface="Times New Roman"/>
                <a:cs typeface="Times New Roman"/>
              </a:rPr>
              <a:t>2-</a:t>
            </a:r>
            <a:r>
              <a:rPr dirty="0" sz="5000" spc="175" b="1">
                <a:solidFill>
                  <a:srgbClr val="D3E4ED"/>
                </a:solidFill>
                <a:latin typeface="Times New Roman"/>
                <a:cs typeface="Times New Roman"/>
              </a:rPr>
              <a:t>3TWh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15316" y="4207040"/>
            <a:ext cx="1665605" cy="81089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r>
              <a:rPr dirty="0" sz="4450" spc="-50" b="1">
                <a:solidFill>
                  <a:srgbClr val="D3E4ED"/>
                </a:solidFill>
                <a:latin typeface="Arial"/>
                <a:cs typeface="Arial"/>
              </a:rPr>
              <a:t>40°/o+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8063" y="5038900"/>
            <a:ext cx="2447925" cy="334010"/>
          </a:xfrm>
          <a:prstGeom prst="rect">
            <a:avLst/>
          </a:prstGeom>
          <a:solidFill>
            <a:srgbClr val="0A131A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1950">
                <a:solidFill>
                  <a:srgbClr val="D3E4ED"/>
                </a:solidFill>
                <a:latin typeface="Times New Roman"/>
                <a:cs typeface="Times New Roman"/>
              </a:rPr>
              <a:t>Clean</a:t>
            </a:r>
            <a:r>
              <a:rPr dirty="0" sz="1950" spc="204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C6D1D8"/>
                </a:solidFill>
                <a:latin typeface="Times New Roman"/>
                <a:cs typeface="Times New Roman"/>
              </a:rPr>
              <a:t>Energy</a:t>
            </a:r>
            <a:r>
              <a:rPr dirty="0" sz="1950" spc="12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950" spc="-10">
                <a:solidFill>
                  <a:srgbClr val="D3E4ED"/>
                </a:solidFill>
                <a:latin typeface="Times New Roman"/>
                <a:cs typeface="Times New Roman"/>
              </a:rPr>
              <a:t>Unlocked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6469" y="5456301"/>
            <a:ext cx="4556760" cy="28257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650" spc="-35">
                <a:solidFill>
                  <a:srgbClr val="C6D1D8"/>
                </a:solidFill>
                <a:latin typeface="Times New Roman"/>
                <a:cs typeface="Times New Roman"/>
              </a:rPr>
              <a:t>Renewable</a:t>
            </a:r>
            <a:r>
              <a:rPr dirty="0" sz="1650" spc="1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capacity</a:t>
            </a:r>
            <a:r>
              <a:rPr dirty="0" sz="1650" spc="-3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recovered</a:t>
            </a:r>
            <a:r>
              <a:rPr dirty="0" sz="1650" spc="7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through</a:t>
            </a:r>
            <a:r>
              <a:rPr dirty="0" sz="1650" spc="-1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02</a:t>
            </a:r>
            <a:r>
              <a:rPr dirty="0" sz="1650" spc="1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curtailment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12942" y="5738805"/>
            <a:ext cx="805815" cy="27495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reduction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5444" y="5056070"/>
            <a:ext cx="2428240" cy="334010"/>
          </a:xfrm>
          <a:prstGeom prst="rect">
            <a:avLst/>
          </a:prstGeom>
          <a:solidFill>
            <a:srgbClr val="0A131A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1950" spc="60">
                <a:solidFill>
                  <a:srgbClr val="C6D1D8"/>
                </a:solidFill>
                <a:latin typeface="Times New Roman"/>
                <a:cs typeface="Times New Roman"/>
              </a:rPr>
              <a:t>Curtailment</a:t>
            </a:r>
            <a:r>
              <a:rPr dirty="0" sz="1950" spc="15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950" spc="-10">
                <a:solidFill>
                  <a:srgbClr val="D3E4ED"/>
                </a:solidFill>
                <a:latin typeface="Times New Roman"/>
                <a:cs typeface="Times New Roman"/>
              </a:rPr>
              <a:t>Reduction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73235" y="5473471"/>
            <a:ext cx="3987165" cy="28257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650" spc="-25">
                <a:solidFill>
                  <a:srgbClr val="C6D1D8"/>
                </a:solidFill>
                <a:latin typeface="Times New Roman"/>
                <a:cs typeface="Times New Roman"/>
              </a:rPr>
              <a:t>Less</a:t>
            </a:r>
            <a:r>
              <a:rPr dirty="0" sz="1650" spc="-6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wasted</a:t>
            </a:r>
            <a:r>
              <a:rPr dirty="0" sz="1650" spc="10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renewable</a:t>
            </a:r>
            <a:r>
              <a:rPr dirty="0" sz="1650" spc="-2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energy</a:t>
            </a:r>
            <a:r>
              <a:rPr dirty="0" sz="1650">
                <a:solidFill>
                  <a:srgbClr val="AFB8BD"/>
                </a:solidFill>
                <a:latin typeface="Times New Roman"/>
                <a:cs typeface="Times New Roman"/>
              </a:rPr>
              <a:t>,</a:t>
            </a:r>
            <a:r>
              <a:rPr dirty="0" sz="1650" spc="-150">
                <a:solidFill>
                  <a:srgbClr val="AFB8B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more</a:t>
            </a:r>
            <a:r>
              <a:rPr dirty="0" sz="1650" spc="-10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stable</a:t>
            </a:r>
            <a:r>
              <a:rPr dirty="0" sz="1650" spc="-65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C6D1D8"/>
                </a:solidFill>
                <a:latin typeface="Times New Roman"/>
                <a:cs typeface="Times New Roman"/>
              </a:rPr>
              <a:t>and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29720" y="5755975"/>
            <a:ext cx="2065020" cy="274955"/>
          </a:xfrm>
          <a:prstGeom prst="rect">
            <a:avLst/>
          </a:prstGeom>
          <a:solidFill>
            <a:srgbClr val="0A131A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650">
                <a:solidFill>
                  <a:srgbClr val="C6D1D8"/>
                </a:solidFill>
                <a:latin typeface="Times New Roman"/>
                <a:cs typeface="Times New Roman"/>
              </a:rPr>
              <a:t>efficient grid</a:t>
            </a:r>
            <a:r>
              <a:rPr dirty="0" sz="1650" spc="-50">
                <a:solidFill>
                  <a:srgbClr val="C6D1D8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C6D1D8"/>
                </a:solidFill>
                <a:latin typeface="Times New Roman"/>
                <a:cs typeface="Times New Roman"/>
              </a:rPr>
              <a:t>operations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6139" y="6480183"/>
            <a:ext cx="1543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6EA1F0"/>
                </a:solidFill>
                <a:latin typeface="Times New Roman"/>
                <a:cs typeface="Times New Roman"/>
              </a:rPr>
              <a:t>[J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1010" y="6463189"/>
            <a:ext cx="1134745" cy="264160"/>
          </a:xfrm>
          <a:prstGeom prst="rect">
            <a:avLst/>
          </a:prstGeom>
          <a:solidFill>
            <a:srgbClr val="0C2D67"/>
          </a:solidFill>
        </p:spPr>
        <p:txBody>
          <a:bodyPr wrap="square" lIns="0" tIns="107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dirty="0" sz="1500" b="1">
                <a:solidFill>
                  <a:srgbClr val="D3E4ED"/>
                </a:solidFill>
                <a:latin typeface="Times New Roman"/>
                <a:cs typeface="Times New Roman"/>
              </a:rPr>
              <a:t>Combined</a:t>
            </a:r>
            <a:r>
              <a:rPr dirty="0" sz="1500" spc="165" b="1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500" spc="-25" b="1">
                <a:solidFill>
                  <a:srgbClr val="D3E4ED"/>
                </a:solidFill>
                <a:latin typeface="Times New Roman"/>
                <a:cs typeface="Times New Roman"/>
              </a:rPr>
              <a:t>Ul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80345" y="6512539"/>
            <a:ext cx="80010" cy="197485"/>
          </a:xfrm>
          <a:custGeom>
            <a:avLst/>
            <a:gdLst/>
            <a:ahLst/>
            <a:cxnLst/>
            <a:rect l="l" t="t" r="r" b="b"/>
            <a:pathLst>
              <a:path w="80010" h="197484">
                <a:moveTo>
                  <a:pt x="80003" y="196896"/>
                </a:moveTo>
                <a:lnTo>
                  <a:pt x="0" y="196896"/>
                </a:lnTo>
                <a:lnTo>
                  <a:pt x="0" y="0"/>
                </a:lnTo>
                <a:lnTo>
                  <a:pt x="80003" y="0"/>
                </a:lnTo>
                <a:lnTo>
                  <a:pt x="80003" y="196896"/>
                </a:lnTo>
                <a:close/>
              </a:path>
            </a:pathLst>
          </a:custGeom>
          <a:solidFill>
            <a:srgbClr val="0C2D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367645" y="6505620"/>
            <a:ext cx="1155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D3E4ED"/>
                </a:solidFill>
                <a:latin typeface="Times New Roman"/>
                <a:cs typeface="Times New Roman"/>
              </a:rPr>
              <a:t>+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27171" y="6446431"/>
            <a:ext cx="6984365" cy="282575"/>
          </a:xfrm>
          <a:prstGeom prst="rect">
            <a:avLst/>
          </a:prstGeom>
          <a:solidFill>
            <a:srgbClr val="0C2D67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  <a:tabLst>
                <a:tab pos="3713479" algn="l"/>
              </a:tabLst>
            </a:pPr>
            <a:r>
              <a:rPr dirty="0" sz="1500" spc="-55" b="1">
                <a:solidFill>
                  <a:srgbClr val="D3E4ED"/>
                </a:solidFill>
                <a:latin typeface="Times New Roman"/>
                <a:cs typeface="Times New Roman"/>
              </a:rPr>
              <a:t>U2:</a:t>
            </a:r>
            <a:r>
              <a:rPr dirty="0" sz="1500" spc="-75" b="1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 spc="-160">
                <a:solidFill>
                  <a:srgbClr val="D3E4ED"/>
                </a:solidFill>
                <a:latin typeface="Times New Roman"/>
                <a:cs typeface="Times New Roman"/>
              </a:rPr>
              <a:t>A</a:t>
            </a:r>
            <a:r>
              <a:rPr dirty="0" sz="1650" spc="-75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D3E4ED"/>
                </a:solidFill>
                <a:latin typeface="Times New Roman"/>
                <a:cs typeface="Times New Roman"/>
              </a:rPr>
              <a:t>resilient</a:t>
            </a:r>
            <a:r>
              <a:rPr dirty="0" sz="1650">
                <a:solidFill>
                  <a:srgbClr val="B1DBF7"/>
                </a:solidFill>
                <a:latin typeface="Times New Roman"/>
                <a:cs typeface="Times New Roman"/>
              </a:rPr>
              <a:t>,</a:t>
            </a:r>
            <a:r>
              <a:rPr dirty="0" sz="1650" spc="-180">
                <a:solidFill>
                  <a:srgbClr val="B1DBF7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D3E4ED"/>
                </a:solidFill>
                <a:latin typeface="Times New Roman"/>
                <a:cs typeface="Times New Roman"/>
              </a:rPr>
              <a:t>clean,</a:t>
            </a:r>
            <a:r>
              <a:rPr dirty="0" sz="1650" spc="-6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D3E4ED"/>
                </a:solidFill>
                <a:latin typeface="Times New Roman"/>
                <a:cs typeface="Times New Roman"/>
              </a:rPr>
              <a:t>and</a:t>
            </a:r>
            <a:r>
              <a:rPr dirty="0" sz="1650" spc="-2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D3E4ED"/>
                </a:solidFill>
                <a:latin typeface="Times New Roman"/>
                <a:cs typeface="Times New Roman"/>
              </a:rPr>
              <a:t>intelligent</a:t>
            </a:r>
            <a:r>
              <a:rPr dirty="0" sz="1650" spc="8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D3E4ED"/>
                </a:solidFill>
                <a:latin typeface="Times New Roman"/>
                <a:cs typeface="Times New Roman"/>
              </a:rPr>
              <a:t>grid</a:t>
            </a:r>
            <a:r>
              <a:rPr dirty="0" sz="1650" spc="114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B1DBF7"/>
                </a:solidFill>
                <a:latin typeface="Times New Roman"/>
                <a:cs typeface="Times New Roman"/>
              </a:rPr>
              <a:t>-</a:t>
            </a:r>
            <a:r>
              <a:rPr dirty="0" sz="1650">
                <a:solidFill>
                  <a:srgbClr val="B1DBF7"/>
                </a:solidFill>
                <a:latin typeface="Times New Roman"/>
                <a:cs typeface="Times New Roman"/>
              </a:rPr>
              <a:t>	</a:t>
            </a:r>
            <a:r>
              <a:rPr dirty="0" sz="1650">
                <a:solidFill>
                  <a:srgbClr val="D3E4ED"/>
                </a:solidFill>
                <a:latin typeface="Times New Roman"/>
                <a:cs typeface="Times New Roman"/>
              </a:rPr>
              <a:t>built</a:t>
            </a:r>
            <a:r>
              <a:rPr dirty="0" sz="1650" spc="-55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D3E4ED"/>
                </a:solidFill>
                <a:latin typeface="Times New Roman"/>
                <a:cs typeface="Times New Roman"/>
              </a:rPr>
              <a:t>on</a:t>
            </a:r>
            <a:r>
              <a:rPr dirty="0" sz="1650" spc="5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 spc="-70">
                <a:solidFill>
                  <a:srgbClr val="D3E4ED"/>
                </a:solidFill>
                <a:latin typeface="Times New Roman"/>
                <a:cs typeface="Times New Roman"/>
              </a:rPr>
              <a:t>IBM's</a:t>
            </a:r>
            <a:r>
              <a:rPr dirty="0" sz="1650" spc="1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D3E4ED"/>
                </a:solidFill>
                <a:latin typeface="Times New Roman"/>
                <a:cs typeface="Times New Roman"/>
              </a:rPr>
              <a:t>Utilities</a:t>
            </a:r>
            <a:r>
              <a:rPr dirty="0" sz="1650" spc="-9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D3E4ED"/>
                </a:solidFill>
                <a:latin typeface="Times New Roman"/>
                <a:cs typeface="Times New Roman"/>
              </a:rPr>
              <a:t>Track</a:t>
            </a:r>
            <a:r>
              <a:rPr dirty="0" sz="1650" spc="10">
                <a:solidFill>
                  <a:srgbClr val="D3E4ED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D3E4ED"/>
                </a:solidFill>
                <a:latin typeface="Times New Roman"/>
                <a:cs typeface="Times New Roman"/>
              </a:rPr>
              <a:t>platform.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7589"/>
            <a:ext cx="10692003" cy="6104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2026-09-15T13:00:32Z</dcterms:created>
  <dcterms:modified xsi:type="dcterms:W3CDTF">2026-09-15T13:00:32Z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2026-09-15T00:00:00Z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2026-09-15T00:00:00Z</vt:filetime>
  </property>
</Properties>
</file>